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" name="Shape 1"/>
          <p:cNvSpPr/>
          <p:nvPr/>
        </p:nvSpPr>
        <p:spPr>
          <a:xfrm>
            <a:off x="5760720" y="320040"/>
            <a:ext cx="274320" cy="274320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4" name="Shape 2"/>
          <p:cNvSpPr/>
          <p:nvPr/>
        </p:nvSpPr>
        <p:spPr>
          <a:xfrm>
            <a:off x="6172200" y="320040"/>
            <a:ext cx="274320" cy="274320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0" y="320040"/>
            <a:ext cx="274320" cy="274320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6995160" y="320040"/>
            <a:ext cx="274320" cy="274320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EAEFF"/>
                </a:solidFill>
              </a:rPr>
              <a:t>Google Cloud Platform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Sharing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57200" y="333756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C7FA"/>
                </a:solidFill>
              </a:rPr>
              <a:t>A comprehensive overview of GCP services, architecture patterns,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8C7FA"/>
                </a:solidFill>
              </a:rPr>
              <a:t>and best practices for cloud-native development.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4315968"/>
            <a:ext cx="1371600" cy="54864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434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</a:rPr>
              <a:t>2024 Edition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74EA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640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8C7FA"/>
                </a:solidFill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5546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74EA6"/>
                </a:solidFill>
              </a:rPr>
              <a:t>Google Cloud Platform  |  Knowledge Sharing Deep Dive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822960"/>
            <a:ext cx="416052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22960"/>
            <a:ext cx="475488" cy="749808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" y="1024128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86968" y="932688"/>
            <a:ext cx="34930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4043"/>
                </a:solidFill>
              </a:rPr>
              <a:t>GCP Introduction &amp; Global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783080"/>
            <a:ext cx="416052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783080"/>
            <a:ext cx="475488" cy="749808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" y="1984248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86968" y="1892808"/>
            <a:ext cx="34930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4043"/>
                </a:solidFill>
              </a:rPr>
              <a:t>Compute Services – VMs, Containers &amp; Serverless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2743200"/>
            <a:ext cx="416052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743200"/>
            <a:ext cx="475488" cy="749808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17" name="Text 15"/>
          <p:cNvSpPr/>
          <p:nvPr/>
        </p:nvSpPr>
        <p:spPr>
          <a:xfrm>
            <a:off x="356616" y="2944368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86968" y="2852928"/>
            <a:ext cx="34930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4043"/>
                </a:solidFill>
              </a:rPr>
              <a:t>Storage &amp; Databases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3703320"/>
            <a:ext cx="416052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703320"/>
            <a:ext cx="475488" cy="749808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1" name="Text 19"/>
          <p:cNvSpPr/>
          <p:nvPr/>
        </p:nvSpPr>
        <p:spPr>
          <a:xfrm>
            <a:off x="356616" y="3904488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86968" y="3813048"/>
            <a:ext cx="34930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4043"/>
                </a:solidFill>
              </a:rPr>
              <a:t>Networking &amp; Connectivity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00600" y="822960"/>
            <a:ext cx="416052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822960"/>
            <a:ext cx="475488" cy="749808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5" name="Text 23"/>
          <p:cNvSpPr/>
          <p:nvPr/>
        </p:nvSpPr>
        <p:spPr>
          <a:xfrm>
            <a:off x="4837176" y="1024128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67528" y="932688"/>
            <a:ext cx="34930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4043"/>
                </a:solidFill>
              </a:rPr>
              <a:t>Data Analytics &amp; Big Data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00600" y="1783080"/>
            <a:ext cx="416052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00600" y="1783080"/>
            <a:ext cx="475488" cy="749808"/>
          </a:xfrm>
          <a:prstGeom prst="rect">
            <a:avLst/>
          </a:prstGeom>
          <a:solidFill>
            <a:srgbClr val="1EA685"/>
          </a:solidFill>
          <a:ln/>
        </p:spPr>
      </p:sp>
      <p:sp>
        <p:nvSpPr>
          <p:cNvPr id="29" name="Text 27"/>
          <p:cNvSpPr/>
          <p:nvPr/>
        </p:nvSpPr>
        <p:spPr>
          <a:xfrm>
            <a:off x="4837176" y="1984248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367528" y="1892808"/>
            <a:ext cx="34930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4043"/>
                </a:solidFill>
              </a:rPr>
              <a:t>AI / ML Platform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00600" y="2743200"/>
            <a:ext cx="416052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00600" y="2743200"/>
            <a:ext cx="475488" cy="749808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3" name="Text 31"/>
          <p:cNvSpPr/>
          <p:nvPr/>
        </p:nvSpPr>
        <p:spPr>
          <a:xfrm>
            <a:off x="4837176" y="2944368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07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367528" y="2852928"/>
            <a:ext cx="34930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4043"/>
                </a:solidFill>
              </a:rPr>
              <a:t>Security &amp; Identity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800600" y="3703320"/>
            <a:ext cx="416052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00600" y="3703320"/>
            <a:ext cx="475488" cy="749808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37" name="Text 35"/>
          <p:cNvSpPr/>
          <p:nvPr/>
        </p:nvSpPr>
        <p:spPr>
          <a:xfrm>
            <a:off x="4837176" y="3904488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08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367528" y="3813048"/>
            <a:ext cx="34930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4043"/>
                </a:solidFill>
              </a:rPr>
              <a:t>DevOps &amp; Developer Tools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74320"/>
            <a:ext cx="256032" cy="256032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274320"/>
            <a:ext cx="256032" cy="256032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274320"/>
            <a:ext cx="256032" cy="256032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8869680" y="274320"/>
            <a:ext cx="256032" cy="256032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14400"/>
            <a:ext cx="2011680" cy="292608"/>
          </a:xfrm>
          <a:prstGeom prst="rect">
            <a:avLst/>
          </a:prstGeom>
          <a:solidFill>
            <a:srgbClr val="1D34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3E8"/>
                </a:solidFill>
              </a:rPr>
              <a:t>SECTION 01 · INTRODUCTION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371600"/>
            <a:ext cx="8412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Google Cloud Platform?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65760" y="27432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8C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suite of cloud computing services running on the same infrastructure that Google uses internally.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74EA6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485546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EAEFF"/>
                </a:solidFill>
              </a:rPr>
              <a:t>Google Cloud Platform  |  Knowledge Sharing Deep Dive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1920240" cy="1188720"/>
          </a:xfrm>
          <a:prstGeom prst="rect">
            <a:avLst/>
          </a:prstGeom>
          <a:solidFill>
            <a:srgbClr val="0D306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474720"/>
            <a:ext cx="1920240" cy="54864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54787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73E8"/>
                </a:solidFill>
              </a:rPr>
              <a:t>200+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57200" y="41605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7FA"/>
                </a:solidFill>
              </a:rPr>
              <a:t>Countries &amp; Territories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606040" y="3474720"/>
            <a:ext cx="1920240" cy="1188720"/>
          </a:xfrm>
          <a:prstGeom prst="rect">
            <a:avLst/>
          </a:prstGeom>
          <a:solidFill>
            <a:srgbClr val="0D306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606040" y="3474720"/>
            <a:ext cx="1920240" cy="54864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8" name="Text 16"/>
          <p:cNvSpPr/>
          <p:nvPr/>
        </p:nvSpPr>
        <p:spPr>
          <a:xfrm>
            <a:off x="2606040" y="354787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73E8"/>
                </a:solidFill>
              </a:rPr>
              <a:t>40+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2606040" y="41605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7FA"/>
                </a:solidFill>
              </a:rPr>
              <a:t>Cloud Regions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3474720"/>
            <a:ext cx="1920240" cy="1188720"/>
          </a:xfrm>
          <a:prstGeom prst="rect">
            <a:avLst/>
          </a:prstGeom>
          <a:solidFill>
            <a:srgbClr val="0D306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3474720"/>
            <a:ext cx="1920240" cy="54864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354787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73E8"/>
                </a:solidFill>
              </a:rPr>
              <a:t>120+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4754880" y="41605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7FA"/>
                </a:solidFill>
              </a:rPr>
              <a:t>Availability Zones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903720" y="3474720"/>
            <a:ext cx="1920240" cy="1188720"/>
          </a:xfrm>
          <a:prstGeom prst="rect">
            <a:avLst/>
          </a:prstGeom>
          <a:solidFill>
            <a:srgbClr val="0D306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03720" y="3474720"/>
            <a:ext cx="1920240" cy="54864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26" name="Text 24"/>
          <p:cNvSpPr/>
          <p:nvPr/>
        </p:nvSpPr>
        <p:spPr>
          <a:xfrm>
            <a:off x="6903720" y="354787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73E8"/>
                </a:solidFill>
              </a:rPr>
              <a:t>100+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6903720" y="41605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7FA"/>
                </a:solidFill>
              </a:rPr>
              <a:t>Products &amp; Services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74EA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640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8C7FA"/>
                </a:solidFill>
              </a:rPr>
              <a:t>SECTION 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Infrastructure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5546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74EA6"/>
                </a:solidFill>
              </a:rPr>
              <a:t>Google Cloud Platform  |  Knowledge Sharing Deep Dive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4251960" cy="18105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777240"/>
            <a:ext cx="4251960" cy="54864"/>
          </a:xfrm>
          <a:prstGeom prst="rect">
            <a:avLst/>
          </a:prstGeom>
          <a:solidFill>
            <a:srgbClr val="1A73E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" y="941832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41248" y="9418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</a:rPr>
              <a:t>Regions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11480" y="1344168"/>
            <a:ext cx="397764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</a:rPr>
              <a:t>Geographic areas containing multiple zones. Choose regions close to your users for low latency. Each region is independent and isolated.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09160" y="777240"/>
            <a:ext cx="4251960" cy="18105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09160" y="777240"/>
            <a:ext cx="4251960" cy="54864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176" y="941832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76088" y="9418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</a:rPr>
              <a:t>Zones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846320" y="1344168"/>
            <a:ext cx="397764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</a:rPr>
              <a:t>Isolated locations within a region with independent power, cooling, and networking. Deploy across zones for high availability.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274320" y="2743200"/>
            <a:ext cx="4251960" cy="18105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274320" y="2743200"/>
            <a:ext cx="4251960" cy="54864"/>
          </a:xfrm>
          <a:prstGeom prst="rect">
            <a:avLst/>
          </a:prstGeom>
          <a:solidFill>
            <a:srgbClr val="EA4335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2907792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1248" y="290779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</a:rPr>
              <a:t>Edge Locations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11480" y="3310128"/>
            <a:ext cx="397764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</a:rPr>
              <a:t>130+ points of presence (PoPs) for Google's premium tier network and Cloud CDN, ensuring fast content delivery globally.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709160" y="2743200"/>
            <a:ext cx="4251960" cy="18105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709160" y="2743200"/>
            <a:ext cx="4251960" cy="54864"/>
          </a:xfrm>
          <a:prstGeom prst="rect">
            <a:avLst/>
          </a:prstGeom>
          <a:solidFill>
            <a:srgbClr val="1EA685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7176" y="2907792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276088" y="290779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</a:rPr>
              <a:t>Private Network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846320" y="3310128"/>
            <a:ext cx="397764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</a:rPr>
              <a:t>Google's private global fiber network interconnects all regions and PoPs with high bandwidth and low latency connectivity.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74320"/>
            <a:ext cx="256032" cy="256032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274320"/>
            <a:ext cx="256032" cy="256032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274320"/>
            <a:ext cx="256032" cy="256032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8869680" y="274320"/>
            <a:ext cx="256032" cy="256032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14400"/>
            <a:ext cx="2011680" cy="292608"/>
          </a:xfrm>
          <a:prstGeom prst="rect">
            <a:avLst/>
          </a:prstGeom>
          <a:solidFill>
            <a:srgbClr val="1D34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3E8"/>
                </a:solidFill>
              </a:rPr>
              <a:t>SECTION 02 · COMPUTE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371600"/>
            <a:ext cx="8412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Services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65760" y="27432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8C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virtual machines to fully managed serverless — GCP offers compute at every abstraction level.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74EA6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485546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EAEFF"/>
                </a:solidFill>
              </a:rPr>
              <a:t>Google Cloud Platform  |  Knowledge Sharing Deep Dive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3291840"/>
            <a:ext cx="1572768" cy="1481328"/>
          </a:xfrm>
          <a:prstGeom prst="rect">
            <a:avLst/>
          </a:prstGeom>
          <a:solidFill>
            <a:srgbClr val="0D306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291840"/>
            <a:ext cx="1572768" cy="64008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" y="3383280"/>
            <a:ext cx="1426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Compute Engine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3785616"/>
            <a:ext cx="14264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7FA"/>
                </a:solidFill>
              </a:rPr>
              <a:t>IaaS VMs — full control, custom machine types, preemptible &amp; spot VMs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984248" y="3291840"/>
            <a:ext cx="1572768" cy="1481328"/>
          </a:xfrm>
          <a:prstGeom prst="rect">
            <a:avLst/>
          </a:prstGeom>
          <a:solidFill>
            <a:srgbClr val="0D306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984248" y="3291840"/>
            <a:ext cx="1572768" cy="64008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8" name="Text 16"/>
          <p:cNvSpPr/>
          <p:nvPr/>
        </p:nvSpPr>
        <p:spPr>
          <a:xfrm>
            <a:off x="2057400" y="3383280"/>
            <a:ext cx="1426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Google Kubernetes Engine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57400" y="3785616"/>
            <a:ext cx="14264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7FA"/>
                </a:solidFill>
              </a:rPr>
              <a:t>Managed Kubernetes — autopilot &amp; standard modes, auto-scaling, GitOps-ready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94176" y="3291840"/>
            <a:ext cx="1572768" cy="1481328"/>
          </a:xfrm>
          <a:prstGeom prst="rect">
            <a:avLst/>
          </a:prstGeom>
          <a:solidFill>
            <a:srgbClr val="0D306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94176" y="3291840"/>
            <a:ext cx="1572768" cy="64008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22" name="Text 20"/>
          <p:cNvSpPr/>
          <p:nvPr/>
        </p:nvSpPr>
        <p:spPr>
          <a:xfrm>
            <a:off x="3767328" y="3383280"/>
            <a:ext cx="1426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Cloud Run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767328" y="3785616"/>
            <a:ext cx="14264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7FA"/>
                </a:solidFill>
              </a:rPr>
              <a:t>Serverless containers — fully managed, scale to zero, HTTP/gRPC triggers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04104" y="3291840"/>
            <a:ext cx="1572768" cy="1481328"/>
          </a:xfrm>
          <a:prstGeom prst="rect">
            <a:avLst/>
          </a:prstGeom>
          <a:solidFill>
            <a:srgbClr val="0D306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04104" y="3291840"/>
            <a:ext cx="1572768" cy="64008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6" name="Text 24"/>
          <p:cNvSpPr/>
          <p:nvPr/>
        </p:nvSpPr>
        <p:spPr>
          <a:xfrm>
            <a:off x="5477256" y="3383280"/>
            <a:ext cx="1426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Cloud Functions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77256" y="3785616"/>
            <a:ext cx="14264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7FA"/>
                </a:solidFill>
              </a:rPr>
              <a:t>Event-driven FaaS — lightweight, triggers from 90+ event sources, Gen 2 available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114032" y="3291840"/>
            <a:ext cx="1572768" cy="1481328"/>
          </a:xfrm>
          <a:prstGeom prst="rect">
            <a:avLst/>
          </a:prstGeom>
          <a:solidFill>
            <a:srgbClr val="0D306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114032" y="3291840"/>
            <a:ext cx="1572768" cy="64008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0" name="Text 28"/>
          <p:cNvSpPr/>
          <p:nvPr/>
        </p:nvSpPr>
        <p:spPr>
          <a:xfrm>
            <a:off x="7187184" y="3383280"/>
            <a:ext cx="1426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App Engine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187184" y="3785616"/>
            <a:ext cx="14264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7FA"/>
                </a:solidFill>
              </a:rPr>
              <a:t>Managed PaaS — standard &amp; flexible environments, built-in traffic splitting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74EA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640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8C7FA"/>
                </a:solidFill>
              </a:rPr>
              <a:t>SECTION 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Databases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5546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74EA6"/>
                </a:solidFill>
              </a:rPr>
              <a:t>Google Cloud Platform  |  Knowledge Sharing Deep Dive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777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4EA6"/>
                </a:solidFill>
              </a:rPr>
              <a:t>Object &amp; File Storage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115568"/>
            <a:ext cx="4114800" cy="36576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123444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234440"/>
            <a:ext cx="64008" cy="77724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" y="129844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</a:rPr>
              <a:t>Cloud Storage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12" y="155448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368"/>
                </a:solidFill>
              </a:rPr>
              <a:t>Unified object storage — Standard, Nearline, Coldline, Archive tiers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130552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130552"/>
            <a:ext cx="64008" cy="77724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" y="21945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</a:rPr>
              <a:t>Filestore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" y="245059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368"/>
                </a:solidFill>
              </a:rPr>
              <a:t>Managed NFS file storage for GCE and GKE workloads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026664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026664"/>
            <a:ext cx="64008" cy="77724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9" name="Text 17"/>
          <p:cNvSpPr/>
          <p:nvPr/>
        </p:nvSpPr>
        <p:spPr>
          <a:xfrm>
            <a:off x="438912" y="309067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</a:rPr>
              <a:t>Persistent Disk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8912" y="3346704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368"/>
                </a:solidFill>
              </a:rPr>
              <a:t>Block storage for VMs — SSD/HDD, regional replication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54880" y="777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4EA6"/>
                </a:solidFill>
              </a:rPr>
              <a:t>Managed Databases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754880" y="1115568"/>
            <a:ext cx="4114800" cy="3657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23" name="Shape 21"/>
          <p:cNvSpPr/>
          <p:nvPr/>
        </p:nvSpPr>
        <p:spPr>
          <a:xfrm>
            <a:off x="4754880" y="1234440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1234440"/>
            <a:ext cx="64008" cy="749808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25" name="Text 23"/>
          <p:cNvSpPr/>
          <p:nvPr/>
        </p:nvSpPr>
        <p:spPr>
          <a:xfrm>
            <a:off x="4919472" y="129844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</a:rPr>
              <a:t>Cloud Spanner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19472" y="153619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368"/>
                </a:solidFill>
              </a:rPr>
              <a:t>Globally distributed relational DB with 99.999% SLA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0" y="2103120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2103120"/>
            <a:ext cx="64008" cy="749808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29" name="Text 27"/>
          <p:cNvSpPr/>
          <p:nvPr/>
        </p:nvSpPr>
        <p:spPr>
          <a:xfrm>
            <a:off x="4919472" y="216712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</a:rPr>
              <a:t>Cloud Bigtable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19472" y="240487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368"/>
                </a:solidFill>
              </a:rPr>
              <a:t>NoSQL wide-column store for analytical &amp; operational workloads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54880" y="2971800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2971800"/>
            <a:ext cx="64008" cy="749808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33" name="Text 31"/>
          <p:cNvSpPr/>
          <p:nvPr/>
        </p:nvSpPr>
        <p:spPr>
          <a:xfrm>
            <a:off x="4919472" y="303580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</a:rPr>
              <a:t>Firestore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19472" y="327355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368"/>
                </a:solidFill>
              </a:rPr>
              <a:t>Serverless document DB with real-time sync &amp; offline support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54880" y="3840480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3840480"/>
            <a:ext cx="64008" cy="749808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37" name="Text 35"/>
          <p:cNvSpPr/>
          <p:nvPr/>
        </p:nvSpPr>
        <p:spPr>
          <a:xfrm>
            <a:off x="4919472" y="390448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</a:rPr>
              <a:t>Cloud SQL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919472" y="414223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368"/>
                </a:solidFill>
              </a:rPr>
              <a:t>Managed MySQL, PostgreSQL, SQL Server with HA replication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74EA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640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8C7FA"/>
                </a:solidFill>
              </a:rPr>
              <a:t>SECTION 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&amp; Connectivity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5546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74EA6"/>
                </a:solidFill>
              </a:rPr>
              <a:t>Google Cloud Platform  |  Knowledge Sharing Deep Dive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56032" y="777240"/>
            <a:ext cx="278892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777240"/>
            <a:ext cx="2788920" cy="54864"/>
          </a:xfrm>
          <a:prstGeom prst="rect">
            <a:avLst/>
          </a:prstGeom>
          <a:solidFill>
            <a:srgbClr val="1A73E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941832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94183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</a:rPr>
              <a:t>Virtual Private Cloud (VPC)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93192" y="1344168"/>
            <a:ext cx="2514600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</a:rPr>
              <a:t>Global, scalable private network. Shared VPC, VPC peering, custom subnets across regions.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182112" y="777240"/>
            <a:ext cx="278892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82112" y="777240"/>
            <a:ext cx="2788920" cy="54864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128" y="941832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749040" y="94183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</a:rPr>
              <a:t>Cloud Load Balancing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319272" y="1344168"/>
            <a:ext cx="2514600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</a:rPr>
              <a:t>Fully distributed, software-defined load balancing. HTTP(S), TCP/SSL proxy, network LB — global anycast.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108192" y="777240"/>
            <a:ext cx="278892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08192" y="777240"/>
            <a:ext cx="2788920" cy="54864"/>
          </a:xfrm>
          <a:prstGeom prst="rect">
            <a:avLst/>
          </a:prstGeom>
          <a:solidFill>
            <a:srgbClr val="FBBC04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941832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675120" y="94183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</a:rPr>
              <a:t>Cloud CDN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245352" y="1344168"/>
            <a:ext cx="2514600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</a:rPr>
              <a:t>Content delivery leveraging Google's global edge network (130+ PoPs) for low-latency static &amp; dynamic content.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256032" y="2697480"/>
            <a:ext cx="278892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256032" y="2697480"/>
            <a:ext cx="2788920" cy="54864"/>
          </a:xfrm>
          <a:prstGeom prst="rect">
            <a:avLst/>
          </a:prstGeom>
          <a:solidFill>
            <a:srgbClr val="EA4335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2862072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22960" y="286207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</a:rPr>
              <a:t>Cloud Interconnect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393192" y="3264408"/>
            <a:ext cx="2514600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</a:rPr>
              <a:t>Dedicated &amp; Partner Interconnect for on-premises hybrid connectivity. Up to 200 Gbps dedicated bandwidth.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3182112" y="2697480"/>
            <a:ext cx="278892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3182112" y="2697480"/>
            <a:ext cx="2788920" cy="54864"/>
          </a:xfrm>
          <a:prstGeom prst="rect">
            <a:avLst/>
          </a:prstGeom>
          <a:solidFill>
            <a:srgbClr val="1EA685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128" y="2862072"/>
            <a:ext cx="347472" cy="34747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749040" y="286207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</a:rPr>
              <a:t>Cloud DNS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3319272" y="3264408"/>
            <a:ext cx="2514600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</a:rPr>
              <a:t>Scalable, reliable, managed DNS service. Low-latency authoritative DNS with 100% SLA uptime.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6108192" y="2697480"/>
            <a:ext cx="278892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6108192" y="2697480"/>
            <a:ext cx="2788920" cy="54864"/>
          </a:xfrm>
          <a:prstGeom prst="rect">
            <a:avLst/>
          </a:prstGeom>
          <a:solidFill>
            <a:srgbClr val="4285F4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6208" y="2862072"/>
            <a:ext cx="347472" cy="347472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675120" y="286207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</a:rPr>
              <a:t>Network Intelligence Center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6245352" y="3264408"/>
            <a:ext cx="2514600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</a:rPr>
              <a:t>Network monitoring, verification &amp; optimization. Topology, connectivity tests, performance dashboards.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74320"/>
            <a:ext cx="256032" cy="256032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274320"/>
            <a:ext cx="256032" cy="256032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274320"/>
            <a:ext cx="256032" cy="256032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8869680" y="274320"/>
            <a:ext cx="256032" cy="256032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14400"/>
            <a:ext cx="2011680" cy="292608"/>
          </a:xfrm>
          <a:prstGeom prst="rect">
            <a:avLst/>
          </a:prstGeom>
          <a:solidFill>
            <a:srgbClr val="1D34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3E8"/>
                </a:solidFill>
              </a:rPr>
              <a:t>SECTION 05 · ANALYTICS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371600"/>
            <a:ext cx="8412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&amp; Big Data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65760" y="27432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8C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managed services to ingest, process, store, and analyze data at any scale.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74EA6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485546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EAEFF"/>
                </a:solidFill>
              </a:rPr>
              <a:t>Google Cloud Platform  |  Knowledge Sharing Deep Dive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3017520"/>
            <a:ext cx="1993392" cy="1783080"/>
          </a:xfrm>
          <a:prstGeom prst="rect">
            <a:avLst/>
          </a:prstGeom>
          <a:solidFill>
            <a:srgbClr val="0D306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017520"/>
            <a:ext cx="1993392" cy="64008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" y="3127248"/>
            <a:ext cx="1773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BigQuery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" y="3456432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3E8"/>
                </a:solidFill>
              </a:rPr>
              <a:t>Serverless Data Warehouse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" y="3749040"/>
            <a:ext cx="17739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7FA"/>
                </a:solidFill>
              </a:rPr>
              <a:t>Analyze petabyte-scale data in seconds. Built-in ML (BQML), geospatial analysis, BI Engine.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14600" y="3017520"/>
            <a:ext cx="1993392" cy="1783080"/>
          </a:xfrm>
          <a:prstGeom prst="rect">
            <a:avLst/>
          </a:prstGeom>
          <a:solidFill>
            <a:srgbClr val="0D306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14600" y="3017520"/>
            <a:ext cx="1993392" cy="64008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9" name="Text 17"/>
          <p:cNvSpPr/>
          <p:nvPr/>
        </p:nvSpPr>
        <p:spPr>
          <a:xfrm>
            <a:off x="2624328" y="3127248"/>
            <a:ext cx="1773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Dataflow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624328" y="3456432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A853"/>
                </a:solidFill>
              </a:rPr>
              <a:t>Unified Stream &amp; Batch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24328" y="3749040"/>
            <a:ext cx="17739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7FA"/>
                </a:solidFill>
              </a:rPr>
              <a:t>Apache Beam-based managed processing. Auto-scaling, exactly-once semantics, flexible templates.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3017520"/>
            <a:ext cx="1993392" cy="1783080"/>
          </a:xfrm>
          <a:prstGeom prst="rect">
            <a:avLst/>
          </a:prstGeom>
          <a:solidFill>
            <a:srgbClr val="0D306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3017520"/>
            <a:ext cx="1993392" cy="64008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24" name="Text 22"/>
          <p:cNvSpPr/>
          <p:nvPr/>
        </p:nvSpPr>
        <p:spPr>
          <a:xfrm>
            <a:off x="4773168" y="3127248"/>
            <a:ext cx="1773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Pub/Sub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73168" y="3456432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C04"/>
                </a:solidFill>
              </a:rPr>
              <a:t>Async Messaging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73168" y="3749040"/>
            <a:ext cx="17739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7FA"/>
                </a:solidFill>
              </a:rPr>
              <a:t>Fully managed real-time messaging. Exactly-once, ordered delivery, 10M+ msgs/sec throughput.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812280" y="3017520"/>
            <a:ext cx="1993392" cy="1783080"/>
          </a:xfrm>
          <a:prstGeom prst="rect">
            <a:avLst/>
          </a:prstGeom>
          <a:solidFill>
            <a:srgbClr val="0D306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812280" y="3017520"/>
            <a:ext cx="1993392" cy="64008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9" name="Text 27"/>
          <p:cNvSpPr/>
          <p:nvPr/>
        </p:nvSpPr>
        <p:spPr>
          <a:xfrm>
            <a:off x="6922008" y="3127248"/>
            <a:ext cx="1773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Dataproc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22008" y="3456432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4335"/>
                </a:solidFill>
              </a:rPr>
              <a:t>Managed Spark &amp; Hadoop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22008" y="3749040"/>
            <a:ext cx="17739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7FA"/>
                </a:solidFill>
              </a:rPr>
              <a:t>Run open-source big data tools. 90-second cluster start, preemptible VMs for cost savings.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74EA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640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8C7FA"/>
                </a:solidFill>
              </a:rPr>
              <a:t>SECTION 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Machine Learning Platform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5546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74EA6"/>
                </a:solidFill>
              </a:rPr>
              <a:t>Google Cloud Platform  |  Knowledge Sharing Deep Dive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8595360" cy="1234440"/>
          </a:xfrm>
          <a:prstGeom prst="rect">
            <a:avLst/>
          </a:prstGeom>
          <a:solidFill>
            <a:srgbClr val="174EA6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1440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85039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Vertex AI  —  Unified ML Platform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51560" y="1216152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7FA"/>
                </a:solidFill>
              </a:rPr>
              <a:t>End-to-end MLOps platform: AutoML, custom training, model registry, feature store, pipelines, model monitoring, and Generative AI Studio — all in one place.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74320" y="2212848"/>
            <a:ext cx="2834640" cy="1115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4320" y="2212848"/>
            <a:ext cx="64008" cy="1115568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3" name="Text 10"/>
          <p:cNvSpPr/>
          <p:nvPr/>
        </p:nvSpPr>
        <p:spPr>
          <a:xfrm>
            <a:off x="438912" y="232257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</a:rPr>
              <a:t>AutoML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38912" y="2624328"/>
            <a:ext cx="2560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</a:rPr>
              <a:t>No-code model training for vision, NLP, tabular, and video data.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227832" y="2212848"/>
            <a:ext cx="2834640" cy="1115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27832" y="2212848"/>
            <a:ext cx="64008" cy="1115568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7" name="Text 14"/>
          <p:cNvSpPr/>
          <p:nvPr/>
        </p:nvSpPr>
        <p:spPr>
          <a:xfrm>
            <a:off x="3392424" y="232257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</a:rPr>
              <a:t>Generative AI Studio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392424" y="2624328"/>
            <a:ext cx="2560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</a:rPr>
              <a:t>Prompt design, fine-tuning &amp; deployment of Gemini and foundation models.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181344" y="2212848"/>
            <a:ext cx="2834640" cy="1115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181344" y="2212848"/>
            <a:ext cx="64008" cy="1115568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21" name="Text 18"/>
          <p:cNvSpPr/>
          <p:nvPr/>
        </p:nvSpPr>
        <p:spPr>
          <a:xfrm>
            <a:off x="6345936" y="232257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</a:rPr>
              <a:t>BigQuery ML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345936" y="2624328"/>
            <a:ext cx="2560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</a:rPr>
              <a:t>Train and deploy ML models using SQL directly in BigQuery.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274320" y="3447288"/>
            <a:ext cx="2834640" cy="1115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74320" y="3447288"/>
            <a:ext cx="64008" cy="1115568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5" name="Text 22"/>
          <p:cNvSpPr/>
          <p:nvPr/>
        </p:nvSpPr>
        <p:spPr>
          <a:xfrm>
            <a:off x="438912" y="35570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</a:rPr>
              <a:t>Document AI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38912" y="3858768"/>
            <a:ext cx="2560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</a:rPr>
              <a:t>Extract, classify and enrich data from documents using pre-built processors.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227832" y="3447288"/>
            <a:ext cx="2834640" cy="1115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3227832" y="3447288"/>
            <a:ext cx="64008" cy="1115568"/>
          </a:xfrm>
          <a:prstGeom prst="rect">
            <a:avLst/>
          </a:prstGeom>
          <a:solidFill>
            <a:srgbClr val="1EA685"/>
          </a:solidFill>
          <a:ln/>
        </p:spPr>
      </p:sp>
      <p:sp>
        <p:nvSpPr>
          <p:cNvPr id="29" name="Text 26"/>
          <p:cNvSpPr/>
          <p:nvPr/>
        </p:nvSpPr>
        <p:spPr>
          <a:xfrm>
            <a:off x="3392424" y="35570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</a:rPr>
              <a:t>Vision API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3392424" y="3858768"/>
            <a:ext cx="2560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</a:rPr>
              <a:t>Object detection, OCR, face detection, and image labeling as a REST API.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181344" y="3447288"/>
            <a:ext cx="2834640" cy="1115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181344" y="3447288"/>
            <a:ext cx="64008" cy="1115568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3" name="Text 30"/>
          <p:cNvSpPr/>
          <p:nvPr/>
        </p:nvSpPr>
        <p:spPr>
          <a:xfrm>
            <a:off x="6345936" y="35570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</a:rPr>
              <a:t>Natural Language API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345936" y="3858768"/>
            <a:ext cx="2560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</a:rPr>
              <a:t>Entity recognition, sentiment analysis, content classification, syntax analysis.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74320"/>
            <a:ext cx="256032" cy="256032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274320"/>
            <a:ext cx="256032" cy="256032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274320"/>
            <a:ext cx="256032" cy="256032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8869680" y="274320"/>
            <a:ext cx="256032" cy="256032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14400"/>
            <a:ext cx="2011680" cy="292608"/>
          </a:xfrm>
          <a:prstGeom prst="rect">
            <a:avLst/>
          </a:prstGeom>
          <a:solidFill>
            <a:srgbClr val="1D34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3E8"/>
                </a:solidFill>
              </a:rPr>
              <a:t>SECTION 07 · SECURITY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371600"/>
            <a:ext cx="8412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Identity Management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65760" y="27432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8C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Defense-in-depth security model built on Google's enterprise-grade infrastructure.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74EA6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485546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EAEFF"/>
                </a:solidFill>
              </a:rPr>
              <a:t>Google Cloud Platform  |  Knowledge Sharing Deep Dive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788920"/>
            <a:ext cx="2834640" cy="1024128"/>
          </a:xfrm>
          <a:prstGeom prst="rect">
            <a:avLst/>
          </a:prstGeom>
          <a:solidFill>
            <a:srgbClr val="0D306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788920"/>
            <a:ext cx="64008" cy="1024128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" y="2880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IAM &amp; Resource Manager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8912" y="3191256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7FA"/>
                </a:solidFill>
              </a:rPr>
              <a:t>Fine-grained access control with roles, policies, and service accounts. Organization policy constraints.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46120" y="2788920"/>
            <a:ext cx="2834640" cy="1024128"/>
          </a:xfrm>
          <a:prstGeom prst="rect">
            <a:avLst/>
          </a:prstGeom>
          <a:solidFill>
            <a:srgbClr val="0D306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2788920"/>
            <a:ext cx="64008" cy="1024128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8" name="Text 16"/>
          <p:cNvSpPr/>
          <p:nvPr/>
        </p:nvSpPr>
        <p:spPr>
          <a:xfrm>
            <a:off x="3410712" y="2880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Cloud Armor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10712" y="3191256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7FA"/>
                </a:solidFill>
              </a:rPr>
              <a:t>DDoS protection &amp; WAF. Adaptive protection using ML, pre-configured rules for OWASP Top 10.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17920" y="2788920"/>
            <a:ext cx="2834640" cy="1024128"/>
          </a:xfrm>
          <a:prstGeom prst="rect">
            <a:avLst/>
          </a:prstGeom>
          <a:solidFill>
            <a:srgbClr val="0D306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2788920"/>
            <a:ext cx="64008" cy="1024128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22" name="Text 20"/>
          <p:cNvSpPr/>
          <p:nvPr/>
        </p:nvSpPr>
        <p:spPr>
          <a:xfrm>
            <a:off x="6382512" y="2880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Secret Manager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82512" y="3191256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7FA"/>
                </a:solidFill>
              </a:rPr>
              <a:t>Store, manage, and access secrets (API keys, passwords, certs) with versioning &amp; audit logging.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3931920"/>
            <a:ext cx="2834640" cy="1024128"/>
          </a:xfrm>
          <a:prstGeom prst="rect">
            <a:avLst/>
          </a:prstGeom>
          <a:solidFill>
            <a:srgbClr val="0D306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931920"/>
            <a:ext cx="64008" cy="1024128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26" name="Text 24"/>
          <p:cNvSpPr/>
          <p:nvPr/>
        </p:nvSpPr>
        <p:spPr>
          <a:xfrm>
            <a:off x="438912" y="4023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Security Command Center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38912" y="4334256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7FA"/>
                </a:solidFill>
              </a:rPr>
              <a:t>Centralized security &amp; risk management. Threat detection, vulnerability scanning, compliance monitoring.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46120" y="3931920"/>
            <a:ext cx="2834640" cy="1024128"/>
          </a:xfrm>
          <a:prstGeom prst="rect">
            <a:avLst/>
          </a:prstGeom>
          <a:solidFill>
            <a:srgbClr val="0D306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46120" y="3931920"/>
            <a:ext cx="64008" cy="1024128"/>
          </a:xfrm>
          <a:prstGeom prst="rect">
            <a:avLst/>
          </a:prstGeom>
          <a:solidFill>
            <a:srgbClr val="1EA685"/>
          </a:solidFill>
          <a:ln/>
        </p:spPr>
      </p:sp>
      <p:sp>
        <p:nvSpPr>
          <p:cNvPr id="30" name="Text 28"/>
          <p:cNvSpPr/>
          <p:nvPr/>
        </p:nvSpPr>
        <p:spPr>
          <a:xfrm>
            <a:off x="3410712" y="4023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VPC Service Controls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410712" y="4334256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7FA"/>
                </a:solidFill>
              </a:rPr>
              <a:t>Define security perimeters for GCP services to mitigate data exfiltration risks.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17920" y="3931920"/>
            <a:ext cx="2834640" cy="1024128"/>
          </a:xfrm>
          <a:prstGeom prst="rect">
            <a:avLst/>
          </a:prstGeom>
          <a:solidFill>
            <a:srgbClr val="0D306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17920" y="3931920"/>
            <a:ext cx="64008" cy="1024128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4" name="Text 32"/>
          <p:cNvSpPr/>
          <p:nvPr/>
        </p:nvSpPr>
        <p:spPr>
          <a:xfrm>
            <a:off x="6382512" y="4023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Cloud KMS &amp; HSM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382512" y="4334256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7FA"/>
                </a:solidFill>
              </a:rPr>
              <a:t>Manage cryptographic keys with software or hardware-backed key management services.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74EA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640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8C7FA"/>
                </a:solidFill>
              </a:rPr>
              <a:t>SECTION 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&amp; Developer Tools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5546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74EA6"/>
                </a:solidFill>
              </a:rPr>
              <a:t>Google Cloud Platform  |  Knowledge Sharing Deep Dive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56032" y="777240"/>
            <a:ext cx="278892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777240"/>
            <a:ext cx="2788920" cy="54864"/>
          </a:xfrm>
          <a:prstGeom prst="rect">
            <a:avLst/>
          </a:prstGeom>
          <a:solidFill>
            <a:srgbClr val="1A73E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941832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94183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</a:rPr>
              <a:t>Cloud Build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93192" y="1344168"/>
            <a:ext cx="2514600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</a:rPr>
              <a:t>Serverless CI/CD platform. Build, test, and deploy containers. 100 build-minutes/day free.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182112" y="777240"/>
            <a:ext cx="278892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82112" y="777240"/>
            <a:ext cx="2788920" cy="54864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128" y="941832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749040" y="94183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</a:rPr>
              <a:t>Artifact Registry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319272" y="1344168"/>
            <a:ext cx="2514600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</a:rPr>
              <a:t>Fully managed container &amp; package registry (Docker, Maven, npm, PyPI, Helm).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108192" y="777240"/>
            <a:ext cx="278892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08192" y="777240"/>
            <a:ext cx="2788920" cy="54864"/>
          </a:xfrm>
          <a:prstGeom prst="rect">
            <a:avLst/>
          </a:prstGeom>
          <a:solidFill>
            <a:srgbClr val="FBBC04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941832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675120" y="94183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</a:rPr>
              <a:t>Cloud Deploy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245352" y="1344168"/>
            <a:ext cx="2514600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</a:rPr>
              <a:t>Managed CD for GKE and Cloud Run with approval gates and rollback support.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256032" y="2697480"/>
            <a:ext cx="278892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256032" y="2697480"/>
            <a:ext cx="2788920" cy="54864"/>
          </a:xfrm>
          <a:prstGeom prst="rect">
            <a:avLst/>
          </a:prstGeom>
          <a:solidFill>
            <a:srgbClr val="EA4335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2862072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22960" y="286207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</a:rPr>
              <a:t>Cloud Monitoring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393192" y="3264408"/>
            <a:ext cx="2514600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</a:rPr>
              <a:t>Full-stack observability: metrics, dashboards, alerting, SLO tracking with 1,500+ metrics.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3182112" y="2697480"/>
            <a:ext cx="278892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3182112" y="2697480"/>
            <a:ext cx="2788920" cy="54864"/>
          </a:xfrm>
          <a:prstGeom prst="rect">
            <a:avLst/>
          </a:prstGeom>
          <a:solidFill>
            <a:srgbClr val="1EA685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128" y="2862072"/>
            <a:ext cx="347472" cy="34747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749040" y="286207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</a:rPr>
              <a:t>Cloud Logging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3319272" y="3264408"/>
            <a:ext cx="2514600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</a:rPr>
              <a:t>Exabyte-scale log management. Log-based metrics, error reporting, Log Analytics with BigQuery.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6108192" y="2697480"/>
            <a:ext cx="278892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6108192" y="2697480"/>
            <a:ext cx="2788920" cy="54864"/>
          </a:xfrm>
          <a:prstGeom prst="rect">
            <a:avLst/>
          </a:prstGeom>
          <a:solidFill>
            <a:srgbClr val="4285F4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6208" y="2862072"/>
            <a:ext cx="347472" cy="347472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675120" y="286207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</a:rPr>
              <a:t>Cloud Trace &amp; Profiler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6245352" y="3264408"/>
            <a:ext cx="2514600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</a:rPr>
              <a:t>Distributed tracing and continuous profiling to understand latency and CPU/memory usage.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74320"/>
            <a:ext cx="256032" cy="256032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274320"/>
            <a:ext cx="256032" cy="256032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274320"/>
            <a:ext cx="256032" cy="256032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8869680" y="274320"/>
            <a:ext cx="256032" cy="256032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14400"/>
            <a:ext cx="2011680" cy="292608"/>
          </a:xfrm>
          <a:prstGeom prst="rect">
            <a:avLst/>
          </a:prstGeom>
          <a:solidFill>
            <a:srgbClr val="1D34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3E8"/>
                </a:solidFill>
              </a:rPr>
              <a:t>ARCHITECTURE GUIDE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371600"/>
            <a:ext cx="8412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Architecture Best Practices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65760" y="27432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8C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patterns for building reliable, scalable, and cost-efficient workloads on GCP.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74EA6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485546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EAEFF"/>
                </a:solidFill>
              </a:rPr>
              <a:t>Google Cloud Platform  |  Knowledge Sharing Deep Dive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788920"/>
            <a:ext cx="2788920" cy="1097280"/>
          </a:xfrm>
          <a:prstGeom prst="rect">
            <a:avLst/>
          </a:prstGeom>
          <a:solidFill>
            <a:srgbClr val="0D306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4048" y="28803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☁️  Lift &amp; Shift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4048" y="32461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7FA"/>
                </a:solidFill>
              </a:rPr>
              <a:t>Migrate VMs to Compute Engine with minimal changes using Migrate to VMs.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0" y="2788920"/>
            <a:ext cx="2788920" cy="1097280"/>
          </a:xfrm>
          <a:prstGeom prst="rect">
            <a:avLst/>
          </a:prstGeom>
          <a:solidFill>
            <a:srgbClr val="0D306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310128" y="28803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🐳  Containerize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10128" y="32461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7FA"/>
                </a:solidFill>
              </a:rPr>
              <a:t>Package apps in Docker, orchestrate with GKE Autopilot for managed Kubernetes.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26480" y="2788920"/>
            <a:ext cx="2788920" cy="1097280"/>
          </a:xfrm>
          <a:prstGeom prst="rect">
            <a:avLst/>
          </a:prstGeom>
          <a:solidFill>
            <a:srgbClr val="0D306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36208" y="28803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⚡  Serverless-first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36208" y="32461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7FA"/>
                </a:solidFill>
              </a:rPr>
              <a:t>Prefer Cloud Run or Cloud Functions for stateless workloads — zero infra mgmt.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977640"/>
            <a:ext cx="2788920" cy="1097280"/>
          </a:xfrm>
          <a:prstGeom prst="rect">
            <a:avLst/>
          </a:prstGeom>
          <a:solidFill>
            <a:srgbClr val="0D306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84048" y="40690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🔀  Event-Driven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4048" y="44348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7FA"/>
                </a:solidFill>
              </a:rPr>
              <a:t>Decouple services with Pub/Sub &amp; Eventarc for resilient async architectures.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0" y="3977640"/>
            <a:ext cx="2788920" cy="1097280"/>
          </a:xfrm>
          <a:prstGeom prst="rect">
            <a:avLst/>
          </a:prstGeom>
          <a:solidFill>
            <a:srgbClr val="0D306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310128" y="40690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📊  Data Lakehouse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10128" y="44348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7FA"/>
                </a:solidFill>
              </a:rPr>
              <a:t>Combine GCS + BigQuery + Dataflow for unified analytics &amp; ML pipelines.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26480" y="3977640"/>
            <a:ext cx="2788920" cy="1097280"/>
          </a:xfrm>
          <a:prstGeom prst="rect">
            <a:avLst/>
          </a:prstGeom>
          <a:solidFill>
            <a:srgbClr val="0D306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236208" y="40690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🔒  Zero Trust Security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36208" y="44348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7FA"/>
                </a:solidFill>
              </a:rPr>
              <a:t>Apply BeyondCorp Enterprise, IAP, and VPC Service Controls throughout.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74EA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640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8C7FA"/>
                </a:solidFill>
              </a:rPr>
              <a:t>FINOPS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Management &amp; Optimization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5546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74EA6"/>
                </a:solidFill>
              </a:rPr>
              <a:t>Google Cloud Platform  |  Knowledge Sharing Deep Dive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7772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4EA6"/>
                </a:solidFill>
              </a:rPr>
              <a:t>GCP Pricing Principles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18872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C4043"/>
                </a:solidFill>
              </a:rPr>
              <a:t>Pay-as-you-go — no upfront costs or termination fees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C4043"/>
                </a:solidFill>
              </a:rPr>
              <a:t>Sustained-use discounts — automatic for 25%+ monthly usage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C4043"/>
                </a:solidFill>
              </a:rPr>
              <a:t>Committed-use contracts — 1-yr or 3-yr for up to 57% savings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C4043"/>
                </a:solidFill>
              </a:rPr>
              <a:t>Preemptible / Spot VMs — up to 90% cheaper for fault-tolerant workloads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C4043"/>
                </a:solidFill>
              </a:rPr>
              <a:t>Per-second billing on Compute Engine (1-minute minimum)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7772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4EA6"/>
                </a:solidFill>
              </a:rPr>
              <a:t>Cost Tools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88720"/>
            <a:ext cx="64008" cy="77724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2" name="Text 10"/>
          <p:cNvSpPr/>
          <p:nvPr/>
        </p:nvSpPr>
        <p:spPr>
          <a:xfrm>
            <a:off x="4919472" y="125272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</a:rPr>
              <a:t>Cloud Billing Console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19472" y="150876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368"/>
                </a:solidFill>
              </a:rPr>
              <a:t>Real-time cost visibility, budgets &amp; alerts, billing export to BigQuery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2084832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2084832"/>
            <a:ext cx="64008" cy="77724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6" name="Text 14"/>
          <p:cNvSpPr/>
          <p:nvPr/>
        </p:nvSpPr>
        <p:spPr>
          <a:xfrm>
            <a:off x="4919472" y="21488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</a:rPr>
              <a:t>Cost Recommender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19472" y="240487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368"/>
                </a:solidFill>
              </a:rPr>
              <a:t>AI-powered rightsizing recommendations for idle and underutilized resources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2980944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980944"/>
            <a:ext cx="64008" cy="77724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20" name="Text 18"/>
          <p:cNvSpPr/>
          <p:nvPr/>
        </p:nvSpPr>
        <p:spPr>
          <a:xfrm>
            <a:off x="4919472" y="304495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</a:rPr>
              <a:t>Active Assist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19472" y="330098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368"/>
                </a:solidFill>
              </a:rPr>
              <a:t>Proactive recommendations for performance, security, and cost across services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0" y="3877056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3877056"/>
            <a:ext cx="64008" cy="77724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24" name="Text 22"/>
          <p:cNvSpPr/>
          <p:nvPr/>
        </p:nvSpPr>
        <p:spPr>
          <a:xfrm>
            <a:off x="4919472" y="394106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</a:rPr>
              <a:t>Billing Budget Alerts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19472" y="419709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368"/>
                </a:solidFill>
              </a:rPr>
              <a:t>Set spending thresholds with automated email/Pub/Sub alerting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20040"/>
            <a:ext cx="237744" cy="237744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4" name="Shape 2"/>
          <p:cNvSpPr/>
          <p:nvPr/>
        </p:nvSpPr>
        <p:spPr>
          <a:xfrm>
            <a:off x="8119872" y="320040"/>
            <a:ext cx="237744" cy="237744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8467344" y="320040"/>
            <a:ext cx="237744" cy="237744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8814816" y="320040"/>
            <a:ext cx="237744" cy="237744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657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84048" y="1161288"/>
            <a:ext cx="347472" cy="347472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1161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1115568"/>
            <a:ext cx="7863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AFF"/>
                </a:solidFill>
              </a:rPr>
              <a:t>GCP offers 100+ services spanning IaaS, PaaS, and SaaS with global infrastructure in 40+ regions.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1773936"/>
            <a:ext cx="347472" cy="347472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1773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1728216"/>
            <a:ext cx="7863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AFF"/>
                </a:solidFill>
              </a:rPr>
              <a:t>Choose the right compute abstraction: Compute Engine → GKE → Cloud Run → Cloud Functions (more managed each step).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4048" y="2386584"/>
            <a:ext cx="347472" cy="347472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" y="2386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2340864"/>
            <a:ext cx="7863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AFF"/>
                </a:solidFill>
              </a:rPr>
              <a:t>Leverage managed data services (BigQuery, Spanner, Bigtable) to eliminate operational overhead at scale.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84048" y="2999232"/>
            <a:ext cx="347472" cy="347472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" y="2999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2953512"/>
            <a:ext cx="7863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AFF"/>
                </a:solidFill>
              </a:rPr>
              <a:t>Vertex AI unifies the entire ML lifecycle — from data prep to model deployment and monitoring.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84048" y="3611880"/>
            <a:ext cx="347472" cy="347472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" y="3611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3566160"/>
            <a:ext cx="7863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AFF"/>
                </a:solidFill>
              </a:rPr>
              <a:t>Apply security-by-default: IAM least privilege, VPC Service Controls, CMEK, and Security Command Center.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84048" y="4224528"/>
            <a:ext cx="347472" cy="347472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24" name="Text 22"/>
          <p:cNvSpPr/>
          <p:nvPr/>
        </p:nvSpPr>
        <p:spPr>
          <a:xfrm>
            <a:off x="384048" y="4224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68680" y="4178808"/>
            <a:ext cx="7863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AFF"/>
                </a:solidFill>
              </a:rPr>
              <a:t>Use Cloud Build + Artifact Registry + Cloud Deploy for a fully managed GitOps CI/CD pipeline.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74EA6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485546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EAEFF"/>
                </a:solidFill>
              </a:rPr>
              <a:t>Thank you  |  Questions?  |  Google Cloud Platform Deep Dive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Google Cloud Platform – Deep Dive</dc:title>
  <dc:subject>PptxGenJS Presentation</dc:subject>
  <dc:creator>PptxGenJS</dc:creator>
  <cp:lastModifiedBy>PptxGenJS</cp:lastModifiedBy>
  <cp:revision>1</cp:revision>
  <dcterms:created xsi:type="dcterms:W3CDTF">2026-06-01T21:29:11Z</dcterms:created>
  <dcterms:modified xsi:type="dcterms:W3CDTF">2026-06-01T21:29:11Z</dcterms:modified>
</cp:coreProperties>
</file>