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Google Cloud Platform (GCP)</a:t>
            </a:r>
          </a:p>
          <a:p>
            <a:r>
              <a:t>Technical Deep-Dive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Architecture, Security, DevOps, Data Engineering &amp; AI/ML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GCP Architecture &amp; Global Infrastructure</a:t>
            </a:r>
          </a:p>
          <a:p>
            <a:pPr>
              <a:defRPr sz="2000"/>
            </a:pPr>
            <a:r>
              <a:t>Networking &amp; Security Deep Dive</a:t>
            </a:r>
          </a:p>
          <a:p>
            <a:pPr>
              <a:defRPr sz="2000"/>
            </a:pPr>
            <a:r>
              <a:t>Compute &amp; Container Platforms</a:t>
            </a:r>
          </a:p>
          <a:p>
            <a:pPr>
              <a:defRPr sz="2000"/>
            </a:pPr>
            <a:r>
              <a:t>Identity &amp; IAM Architecture</a:t>
            </a:r>
          </a:p>
          <a:p>
            <a:pPr>
              <a:defRPr sz="2000"/>
            </a:pPr>
            <a:r>
              <a:t>CI/CD &amp; Infrastructure as Code</a:t>
            </a:r>
          </a:p>
          <a:p>
            <a:pPr>
              <a:defRPr sz="2000"/>
            </a:pPr>
            <a:r>
              <a:t>Observability &amp; SRE</a:t>
            </a:r>
          </a:p>
          <a:p>
            <a:pPr>
              <a:defRPr sz="2000"/>
            </a:pPr>
            <a:r>
              <a:t>Data Engineering &amp; Analytics</a:t>
            </a:r>
          </a:p>
          <a:p>
            <a:pPr>
              <a:defRPr sz="2000"/>
            </a:pPr>
            <a:r>
              <a:t>AI/ML &amp; Vertex AI</a:t>
            </a:r>
          </a:p>
          <a:p>
            <a:pPr>
              <a:defRPr sz="2000"/>
            </a:pPr>
            <a:r>
              <a:t>Enterprise Reference Architecture</a:t>
            </a:r>
          </a:p>
          <a:p>
            <a:pPr>
              <a:defRPr sz="2000"/>
            </a:pPr>
            <a:r>
              <a:t>Best Practices &amp;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Global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Regions, Zones, Edge POPs</a:t>
            </a:r>
          </a:p>
          <a:p>
            <a:pPr>
              <a:defRPr sz="2000"/>
            </a:pPr>
            <a:r>
              <a:t>Google private backbone network</a:t>
            </a:r>
          </a:p>
          <a:p>
            <a:pPr>
              <a:defRPr sz="2000"/>
            </a:pPr>
            <a:r>
              <a:t>Global VPC architecture</a:t>
            </a:r>
          </a:p>
          <a:p>
            <a:pPr>
              <a:defRPr sz="2000"/>
            </a:pPr>
            <a:r>
              <a:t>Multi-region HA design</a:t>
            </a:r>
          </a:p>
          <a:p>
            <a:pPr>
              <a:defRPr sz="2000"/>
            </a:pPr>
            <a:r>
              <a:t>Latency optimization strategies</a:t>
            </a:r>
          </a:p>
          <a:p>
            <a:pPr>
              <a:defRPr sz="2000"/>
            </a:pPr>
            <a:r>
              <a:t>Disaster recovery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VPC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Shared VPC and host projects</a:t>
            </a:r>
          </a:p>
          <a:p>
            <a:pPr>
              <a:defRPr sz="2000"/>
            </a:pPr>
            <a:r>
              <a:t>Custom subnet design</a:t>
            </a:r>
          </a:p>
          <a:p>
            <a:pPr>
              <a:defRPr sz="2000"/>
            </a:pPr>
            <a:r>
              <a:t>Private Google Access</a:t>
            </a:r>
          </a:p>
          <a:p>
            <a:pPr>
              <a:defRPr sz="2000"/>
            </a:pPr>
            <a:r>
              <a:t>Cloud NAT and egress control</a:t>
            </a:r>
          </a:p>
          <a:p>
            <a:pPr>
              <a:defRPr sz="2000"/>
            </a:pPr>
            <a:r>
              <a:t>VPC Peering limitations</a:t>
            </a:r>
          </a:p>
          <a:p>
            <a:pPr>
              <a:defRPr sz="2000"/>
            </a:pPr>
            <a:r>
              <a:t>Hybrid connectivity using Interconnect/VPN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Balancing &amp; Traffic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Global HTTP(S) Load Balancer</a:t>
            </a:r>
          </a:p>
          <a:p>
            <a:pPr>
              <a:defRPr sz="2000"/>
            </a:pPr>
            <a:r>
              <a:t>SSL offloading and TLS policies</a:t>
            </a:r>
          </a:p>
          <a:p>
            <a:pPr>
              <a:defRPr sz="2000"/>
            </a:pPr>
            <a:r>
              <a:t>Cloud CDN integration</a:t>
            </a:r>
          </a:p>
          <a:p>
            <a:pPr>
              <a:defRPr sz="2000"/>
            </a:pPr>
            <a:r>
              <a:t>Traffic splitting &amp; blue/green deployment</a:t>
            </a:r>
          </a:p>
          <a:p>
            <a:pPr>
              <a:defRPr sz="2000"/>
            </a:pPr>
            <a:r>
              <a:t>Regional vs Global load balancing</a:t>
            </a:r>
          </a:p>
          <a:p>
            <a:pPr>
              <a:defRPr sz="2000"/>
            </a:pPr>
            <a:r>
              <a:t>Cloud Armor WAF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 Engine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Machine families: E2, N2, C3</a:t>
            </a:r>
          </a:p>
          <a:p>
            <a:pPr>
              <a:defRPr sz="2000"/>
            </a:pPr>
            <a:r>
              <a:t>Managed Instance Groups</a:t>
            </a:r>
          </a:p>
          <a:p>
            <a:pPr>
              <a:defRPr sz="2000"/>
            </a:pPr>
            <a:r>
              <a:t>Autoscaling policies</a:t>
            </a:r>
          </a:p>
          <a:p>
            <a:pPr>
              <a:defRPr sz="2000"/>
            </a:pPr>
            <a:r>
              <a:t>Preemptible/Spot VMs</a:t>
            </a:r>
          </a:p>
          <a:p>
            <a:pPr>
              <a:defRPr sz="2000"/>
            </a:pPr>
            <a:r>
              <a:t>Custom images and startup scripts</a:t>
            </a:r>
          </a:p>
          <a:p>
            <a:pPr>
              <a:defRPr sz="2000"/>
            </a:pPr>
            <a:r>
              <a:t>GPU &amp; high-performance workloads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Kubernetes Engine (GKE)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Autopilot vs Standard clusters</a:t>
            </a:r>
          </a:p>
          <a:p>
            <a:pPr>
              <a:defRPr sz="2000"/>
            </a:pPr>
            <a:r>
              <a:t>Node pools and autoscaling</a:t>
            </a:r>
          </a:p>
          <a:p>
            <a:pPr>
              <a:defRPr sz="2000"/>
            </a:pPr>
            <a:r>
              <a:t>Workload Identity Federation</a:t>
            </a:r>
          </a:p>
          <a:p>
            <a:pPr>
              <a:defRPr sz="2000"/>
            </a:pPr>
            <a:r>
              <a:t>Ingress controllers</a:t>
            </a:r>
          </a:p>
          <a:p>
            <a:pPr>
              <a:defRPr sz="2000"/>
            </a:pPr>
            <a:r>
              <a:t>Service mesh with Anthos/Istio</a:t>
            </a:r>
          </a:p>
          <a:p>
            <a:pPr>
              <a:defRPr sz="2000"/>
            </a:pPr>
            <a:r>
              <a:t>Pod security &amp; network policies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Run &amp; Serverless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Containerized microservices</a:t>
            </a:r>
          </a:p>
          <a:p>
            <a:pPr>
              <a:defRPr sz="2000"/>
            </a:pPr>
            <a:r>
              <a:t>Scale-to-zero architecture</a:t>
            </a:r>
          </a:p>
          <a:p>
            <a:pPr>
              <a:defRPr sz="2000"/>
            </a:pPr>
            <a:r>
              <a:t>Event-driven workloads</a:t>
            </a:r>
          </a:p>
          <a:p>
            <a:pPr>
              <a:defRPr sz="2000"/>
            </a:pPr>
            <a:r>
              <a:t>Pub/Sub integration</a:t>
            </a:r>
          </a:p>
          <a:p>
            <a:pPr>
              <a:defRPr sz="2000"/>
            </a:pPr>
            <a:r>
              <a:t>Concurrency optimization</a:t>
            </a:r>
          </a:p>
          <a:p>
            <a:pPr>
              <a:defRPr sz="2000"/>
            </a:pPr>
            <a:r>
              <a:t>Secure internal-only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&amp; Access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IAM roles hierarchy</a:t>
            </a:r>
          </a:p>
          <a:p>
            <a:pPr>
              <a:defRPr sz="2000"/>
            </a:pPr>
            <a:r>
              <a:t>Custom roles &amp; least privilege</a:t>
            </a:r>
          </a:p>
          <a:p>
            <a:pPr>
              <a:defRPr sz="2000"/>
            </a:pPr>
            <a:r>
              <a:t>Service Accounts</a:t>
            </a:r>
          </a:p>
          <a:p>
            <a:pPr>
              <a:defRPr sz="2000"/>
            </a:pPr>
            <a:r>
              <a:t>Workload Identity Federation</a:t>
            </a:r>
          </a:p>
          <a:p>
            <a:pPr>
              <a:defRPr sz="2000"/>
            </a:pPr>
            <a:r>
              <a:t>Organization policies</a:t>
            </a:r>
          </a:p>
          <a:p>
            <a:pPr>
              <a:defRPr sz="2000"/>
            </a:pPr>
            <a:r>
              <a:t>Privileged access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Secrets &amp;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Cloud KMS</a:t>
            </a:r>
          </a:p>
          <a:p>
            <a:pPr>
              <a:defRPr sz="2000"/>
            </a:pPr>
            <a:r>
              <a:t>Customer-managed encryption keys (CMEK)</a:t>
            </a:r>
          </a:p>
          <a:p>
            <a:pPr>
              <a:defRPr sz="2000"/>
            </a:pPr>
            <a:r>
              <a:t>Secret Manager rotation</a:t>
            </a:r>
          </a:p>
          <a:p>
            <a:pPr>
              <a:defRPr sz="2000"/>
            </a:pPr>
            <a:r>
              <a:t>Envelope encryption</a:t>
            </a:r>
          </a:p>
          <a:p>
            <a:pPr>
              <a:defRPr sz="2000"/>
            </a:pPr>
            <a:r>
              <a:t>TLS certificate management</a:t>
            </a:r>
          </a:p>
          <a:p>
            <a:pPr>
              <a:defRPr sz="2000"/>
            </a:pPr>
            <a:r>
              <a:t>Audit logging for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&amp; DevSecOps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Cloud Build pipelines</a:t>
            </a:r>
          </a:p>
          <a:p>
            <a:pPr>
              <a:defRPr sz="2000"/>
            </a:pPr>
            <a:r>
              <a:t>Artifact Registry</a:t>
            </a:r>
          </a:p>
          <a:p>
            <a:pPr>
              <a:defRPr sz="2000"/>
            </a:pPr>
            <a:r>
              <a:t>GitOps workflows</a:t>
            </a:r>
          </a:p>
          <a:p>
            <a:pPr>
              <a:defRPr sz="2000"/>
            </a:pPr>
            <a:r>
              <a:t>Terraform Infrastructure as Code</a:t>
            </a:r>
          </a:p>
          <a:p>
            <a:pPr>
              <a:defRPr sz="2000"/>
            </a:pPr>
            <a:r>
              <a:t>Policy validation</a:t>
            </a:r>
          </a:p>
          <a:p>
            <a:pPr>
              <a:defRPr sz="2000"/>
            </a:pPr>
            <a:r>
              <a:t>Automated security scanning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as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Terraform modules</a:t>
            </a:r>
          </a:p>
          <a:p>
            <a:pPr>
              <a:defRPr sz="2000"/>
            </a:pPr>
            <a:r>
              <a:t>Remote state management</a:t>
            </a:r>
          </a:p>
          <a:p>
            <a:pPr>
              <a:defRPr sz="2000"/>
            </a:pPr>
            <a:r>
              <a:t>Reusable infrastructure patterns</a:t>
            </a:r>
          </a:p>
          <a:p>
            <a:pPr>
              <a:defRPr sz="2000"/>
            </a:pPr>
            <a:r>
              <a:t>Environment promotion strategy</a:t>
            </a:r>
          </a:p>
          <a:p>
            <a:pPr>
              <a:defRPr sz="2000"/>
            </a:pPr>
            <a:r>
              <a:t>CI/CD pipeline integration</a:t>
            </a:r>
          </a:p>
          <a:p>
            <a:pPr>
              <a:defRPr sz="2000"/>
            </a:pPr>
            <a:r>
              <a:t>Policy-as-code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 &amp; SRE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Cloud Monitoring dashboards</a:t>
            </a:r>
          </a:p>
          <a:p>
            <a:pPr>
              <a:defRPr sz="2000"/>
            </a:pPr>
            <a:r>
              <a:t>Cloud Logging aggregation</a:t>
            </a:r>
          </a:p>
          <a:p>
            <a:pPr>
              <a:defRPr sz="2000"/>
            </a:pPr>
            <a:r>
              <a:t>Distributed tracing</a:t>
            </a:r>
          </a:p>
          <a:p>
            <a:pPr>
              <a:defRPr sz="2000"/>
            </a:pPr>
            <a:r>
              <a:t>Error Reporting</a:t>
            </a:r>
          </a:p>
          <a:p>
            <a:pPr>
              <a:defRPr sz="2000"/>
            </a:pPr>
            <a:r>
              <a:t>SLIs, SLOs, and SLAs</a:t>
            </a:r>
          </a:p>
          <a:p>
            <a:pPr>
              <a:defRPr sz="2000"/>
            </a:pPr>
            <a:r>
              <a:t>Incident response workflows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SQL &amp; Spanner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HA configuration</a:t>
            </a:r>
          </a:p>
          <a:p>
            <a:pPr>
              <a:defRPr sz="2000"/>
            </a:pPr>
            <a:r>
              <a:t>Read replicas</a:t>
            </a:r>
          </a:p>
          <a:p>
            <a:pPr>
              <a:defRPr sz="2000"/>
            </a:pPr>
            <a:r>
              <a:t>Backup &amp; PITR</a:t>
            </a:r>
          </a:p>
          <a:p>
            <a:pPr>
              <a:defRPr sz="2000"/>
            </a:pPr>
            <a:r>
              <a:t>Connection pooling</a:t>
            </a:r>
          </a:p>
          <a:p>
            <a:pPr>
              <a:defRPr sz="2000"/>
            </a:pPr>
            <a:r>
              <a:t>Horizontal scalability with Spanner</a:t>
            </a:r>
          </a:p>
          <a:p>
            <a:pPr>
              <a:defRPr sz="2000"/>
            </a:pPr>
            <a:r>
              <a:t>Database failover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BigQuery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Columnar serverless warehouse</a:t>
            </a:r>
          </a:p>
          <a:p>
            <a:pPr>
              <a:defRPr sz="2000"/>
            </a:pPr>
            <a:r>
              <a:t>Partitioned and clustered tables</a:t>
            </a:r>
          </a:p>
          <a:p>
            <a:pPr>
              <a:defRPr sz="2000"/>
            </a:pPr>
            <a:r>
              <a:t>Federated queries</a:t>
            </a:r>
          </a:p>
          <a:p>
            <a:pPr>
              <a:defRPr sz="2000"/>
            </a:pPr>
            <a:r>
              <a:t>BigQuery ML</a:t>
            </a:r>
          </a:p>
          <a:p>
            <a:pPr>
              <a:defRPr sz="2000"/>
            </a:pPr>
            <a:r>
              <a:t>Cost optimization techniques</a:t>
            </a:r>
          </a:p>
          <a:p>
            <a:pPr>
              <a:defRPr sz="2000"/>
            </a:pPr>
            <a:r>
              <a:t>Streaming ingestion patterns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&amp; Event-Driven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Pub/Sub messaging</a:t>
            </a:r>
          </a:p>
          <a:p>
            <a:pPr>
              <a:defRPr sz="2000"/>
            </a:pPr>
            <a:r>
              <a:t>Dead-letter queues</a:t>
            </a:r>
          </a:p>
          <a:p>
            <a:pPr>
              <a:defRPr sz="2000"/>
            </a:pPr>
            <a:r>
              <a:t>Dataflow streaming pipelines</a:t>
            </a:r>
          </a:p>
          <a:p>
            <a:pPr>
              <a:defRPr sz="2000"/>
            </a:pPr>
            <a:r>
              <a:t>Event-driven microservices</a:t>
            </a:r>
          </a:p>
          <a:p>
            <a:pPr>
              <a:defRPr sz="2000"/>
            </a:pPr>
            <a:r>
              <a:t>Real-time analytics</a:t>
            </a:r>
          </a:p>
          <a:p>
            <a:pPr>
              <a:defRPr sz="2000"/>
            </a:pPr>
            <a:r>
              <a:t>Exactly-once processing patterns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Vertex AI &amp;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Model training pipelines</a:t>
            </a:r>
          </a:p>
          <a:p>
            <a:pPr>
              <a:defRPr sz="2000"/>
            </a:pPr>
            <a:r>
              <a:t>Model Registry</a:t>
            </a:r>
          </a:p>
          <a:p>
            <a:pPr>
              <a:defRPr sz="2000"/>
            </a:pPr>
            <a:r>
              <a:t>MLOps lifecycle</a:t>
            </a:r>
          </a:p>
          <a:p>
            <a:pPr>
              <a:defRPr sz="2000"/>
            </a:pPr>
            <a:r>
              <a:t>Vector Search &amp; embeddings</a:t>
            </a:r>
          </a:p>
          <a:p>
            <a:pPr>
              <a:defRPr sz="2000"/>
            </a:pPr>
            <a:r>
              <a:t>Gemini integration</a:t>
            </a:r>
          </a:p>
          <a:p>
            <a:pPr>
              <a:defRPr sz="2000"/>
            </a:pPr>
            <a:r>
              <a:t>Responsible AI governance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Zero Trust principles</a:t>
            </a:r>
          </a:p>
          <a:p>
            <a:pPr>
              <a:defRPr sz="2000"/>
            </a:pPr>
            <a:r>
              <a:t>VPC Service Controls</a:t>
            </a:r>
          </a:p>
          <a:p>
            <a:pPr>
              <a:defRPr sz="2000"/>
            </a:pPr>
            <a:r>
              <a:t>Cloud Armor</a:t>
            </a:r>
          </a:p>
          <a:p>
            <a:pPr>
              <a:defRPr sz="2000"/>
            </a:pPr>
            <a:r>
              <a:t>Security Command Center</a:t>
            </a:r>
          </a:p>
          <a:p>
            <a:pPr>
              <a:defRPr sz="2000"/>
            </a:pPr>
            <a:r>
              <a:t>Threat detection</a:t>
            </a:r>
          </a:p>
          <a:p>
            <a:pPr>
              <a:defRPr sz="2000"/>
            </a:pPr>
            <a:r>
              <a:t>Compliance monitoring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Reference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Internet → Load Balancer → WAF</a:t>
            </a:r>
          </a:p>
          <a:p>
            <a:pPr>
              <a:defRPr sz="2000"/>
            </a:pPr>
            <a:r>
              <a:t>GKE / Cloud Run application tier</a:t>
            </a:r>
          </a:p>
          <a:p>
            <a:pPr>
              <a:defRPr sz="2000"/>
            </a:pPr>
            <a:r>
              <a:t>Cloud SQL / Spanner data layer</a:t>
            </a:r>
          </a:p>
          <a:p>
            <a:pPr>
              <a:defRPr sz="2000"/>
            </a:pPr>
            <a:r>
              <a:t>Pub/Sub &amp; Dataflow analytics pipeline</a:t>
            </a:r>
          </a:p>
          <a:p>
            <a:pPr>
              <a:defRPr sz="2000"/>
            </a:pPr>
            <a:r>
              <a:t>BigQuery reporting layer</a:t>
            </a:r>
          </a:p>
          <a:p>
            <a:pPr>
              <a:defRPr sz="2000"/>
            </a:pPr>
            <a:r>
              <a:t>Centralized monitoring &amp; SIEM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Billing export to BigQuery</a:t>
            </a:r>
          </a:p>
          <a:p>
            <a:pPr>
              <a:defRPr sz="2000"/>
            </a:pPr>
            <a:r>
              <a:t>Budgets &amp; alerting</a:t>
            </a:r>
          </a:p>
          <a:p>
            <a:pPr>
              <a:defRPr sz="2000"/>
            </a:pPr>
            <a:r>
              <a:t>Rightsizing recommendations</a:t>
            </a:r>
          </a:p>
          <a:p>
            <a:pPr>
              <a:defRPr sz="2000"/>
            </a:pPr>
            <a:r>
              <a:t>Committed use discounts</a:t>
            </a:r>
          </a:p>
          <a:p>
            <a:pPr>
              <a:defRPr sz="2000"/>
            </a:pPr>
            <a:r>
              <a:t>Resource labeling strategy</a:t>
            </a:r>
          </a:p>
          <a:p>
            <a:pPr>
              <a:defRPr sz="2000"/>
            </a:pPr>
            <a:r>
              <a:t>Quota governance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Multi-zone deployment</a:t>
            </a:r>
          </a:p>
          <a:p>
            <a:pPr>
              <a:defRPr sz="2000"/>
            </a:pPr>
            <a:r>
              <a:t>Immutable infrastructure</a:t>
            </a:r>
          </a:p>
          <a:p>
            <a:pPr>
              <a:defRPr sz="2000"/>
            </a:pPr>
            <a:r>
              <a:t>Automated rollback</a:t>
            </a:r>
          </a:p>
          <a:p>
            <a:pPr>
              <a:defRPr sz="2000"/>
            </a:pPr>
            <a:r>
              <a:t>Centralized secrets management</a:t>
            </a:r>
          </a:p>
          <a:p>
            <a:pPr>
              <a:defRPr sz="2000"/>
            </a:pPr>
            <a:r>
              <a:t>Disaster recovery testing</a:t>
            </a:r>
          </a:p>
          <a:p>
            <a:pPr>
              <a:defRPr sz="2000"/>
            </a:pPr>
            <a:r>
              <a:t>Security baseline enforcement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Discussion</a:t>
            </a:r>
          </a:p>
          <a:p>
            <a:pPr>
              <a:defRPr sz="2000"/>
            </a:pPr>
            <a:r>
              <a:t>Architecture scenarios</a:t>
            </a:r>
          </a:p>
          <a:p>
            <a:pPr>
              <a:defRPr sz="2000"/>
            </a:pPr>
            <a:r>
              <a:t>Operational challenges</a:t>
            </a:r>
          </a:p>
          <a:p>
            <a:pPr>
              <a:defRPr sz="2000"/>
            </a:pPr>
            <a:r>
              <a:t>Migration considerations</a:t>
            </a:r>
          </a:p>
          <a:p>
            <a:pPr>
              <a:defRPr sz="2000"/>
            </a:pPr>
            <a:r>
              <a:t>Security questions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Architecture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Users → Cloud Load Balancer → Cloud Armor → GKE / Cloud Run → Cloud SQL / Spanner → Pub/Sub → Dataflow → BigQuery → Looker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